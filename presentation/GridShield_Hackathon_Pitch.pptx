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91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7228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A2270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251E5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51560"/>
            <a:ext cx="822960" cy="822960"/>
          </a:xfrm>
          <a:prstGeom prst="ellipse">
            <a:avLst/>
          </a:prstGeom>
          <a:solidFill>
            <a:srgbClr val="5B4FE8"/>
          </a:solidFill>
          <a:ln/>
        </p:spPr>
      </p:sp>
      <p:pic>
        <p:nvPicPr>
          <p:cNvPr id="5" name="Image 0" descr="icons/z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2344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19659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GridShield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Civil-Engineering-Aware Power Grid Advisor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" y="3657600"/>
            <a:ext cx="6949440" cy="457200"/>
          </a:xfrm>
          <a:prstGeom prst="roundRect">
            <a:avLst>
              <a:gd name="adj" fmla="val 50000"/>
            </a:avLst>
          </a:prstGeom>
          <a:solidFill>
            <a:srgbClr val="2A227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05840" y="36576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AI Hackathon 2026  ·  Challenge U1: Power Outage Prediction &amp; Grid Equipment Failure Advisor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806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GridShield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61081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Mitesh Rana  ·  Yogi Patel  ·  Krisha Patel  ·  Jerry Sureja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B4FE8"/>
          </a:solidFill>
          <a:ln/>
        </p:spPr>
      </p:sp>
      <p:pic>
        <p:nvPicPr>
          <p:cNvPr id="3" name="Image 0" descr="icons/al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03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5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98448" y="71323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4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Predictable failures, caught too late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3291840" cy="4434840"/>
          </a:xfrm>
          <a:prstGeom prst="roundRect">
            <a:avLst>
              <a:gd name="adj" fmla="val 3333"/>
            </a:avLst>
          </a:prstGeom>
          <a:solidFill>
            <a:srgbClr val="1B164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2148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8A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$1M+</a:t>
            </a:r>
            <a:endParaRPr lang="en-US" sz="5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880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hour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47472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9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transformer and substation failures can cost utilities during a major outage — with millions of customers affected.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5486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A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problem statement, IBM BOB AI Hackathon 2026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251960" y="1508760"/>
            <a:ext cx="7360920" cy="1417320"/>
          </a:xfrm>
          <a:prstGeom prst="roundRect">
            <a:avLst>
              <a:gd name="adj" fmla="val 6452"/>
            </a:avLst>
          </a:prstGeom>
          <a:solidFill>
            <a:srgbClr val="F6F5FF"/>
          </a:solidFill>
          <a:ln w="12700">
            <a:solidFill>
              <a:srgbClr val="ECE9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26280" y="1673352"/>
            <a:ext cx="681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is stuck on the calendar</a:t>
            </a:r>
            <a:endParaRPr lang="en-US" sz="155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2057400"/>
            <a:ext cx="6812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75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utilities still inspect and service equipment on a fixed schedule, even though sensors already streaming temperature, vibration, partial discharge, and oil-quality data show failure signatures weeks in advance.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51960" y="3081528"/>
            <a:ext cx="7360920" cy="1417320"/>
          </a:xfrm>
          <a:prstGeom prst="roundRect">
            <a:avLst>
              <a:gd name="adj" fmla="val 6452"/>
            </a:avLst>
          </a:prstGeom>
          <a:solidFill>
            <a:srgbClr val="F6F5FF"/>
          </a:solidFill>
          <a:ln w="12700">
            <a:solidFill>
              <a:srgbClr val="ECE9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26280" y="3246120"/>
            <a:ext cx="681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compounds the risk</a:t>
            </a:r>
            <a:endParaRPr lang="en-US" sz="1550" dirty="0"/>
          </a:p>
        </p:txBody>
      </p:sp>
      <p:sp>
        <p:nvSpPr>
          <p:cNvPr id="16" name="Text 13"/>
          <p:cNvSpPr txBox="1"/>
          <p:nvPr/>
        </p:nvSpPr>
        <p:spPr>
          <a:xfrm>
            <a:off x="4526280" y="3630168"/>
            <a:ext cx="6812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75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Storms, flooding, and wind loading accelerate failure in already-weak assets — poles with drainage issues, transformers with insulation degradation, substations near erosion-prone ground.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251960" y="4654296"/>
            <a:ext cx="7360920" cy="1417320"/>
          </a:xfrm>
          <a:prstGeom prst="roundRect">
            <a:avLst>
              <a:gd name="adj" fmla="val 6452"/>
            </a:avLst>
          </a:prstGeom>
          <a:solidFill>
            <a:srgbClr val="F6F5FF"/>
          </a:solidFill>
          <a:ln w="12700">
            <a:solidFill>
              <a:srgbClr val="ECE9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26280" y="4818888"/>
            <a:ext cx="681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data sets never meet in time</a:t>
            </a:r>
            <a:endParaRPr lang="en-US" sz="1550" dirty="0"/>
          </a:p>
        </p:txBody>
      </p:sp>
      <p:sp>
        <p:nvSpPr>
          <p:cNvPr id="19" name="Text 16"/>
          <p:cNvSpPr txBox="1"/>
          <p:nvPr/>
        </p:nvSpPr>
        <p:spPr>
          <a:xfrm>
            <a:off x="4526280" y="5202936"/>
            <a:ext cx="6812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75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health, weather forecasts, and historical incident records live in separate systems, so at-risk equipment isn't flagged and prioritized before it fails — only after.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39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GridShield · IBM BOB AI Hackathon 2026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39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B4FE8"/>
          </a:solidFill>
          <a:ln/>
        </p:spPr>
      </p:sp>
      <p:pic>
        <p:nvPicPr>
          <p:cNvPr id="3" name="Image 0" descr="icons/gri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03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5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98448" y="71323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4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raw grid data into a ranked action list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81912"/>
            <a:ext cx="256032" cy="256032"/>
          </a:xfrm>
          <a:prstGeom prst="ellipse">
            <a:avLst/>
          </a:prstGeom>
          <a:solidFill>
            <a:srgbClr val="ECE9FF"/>
          </a:solidFill>
          <a:ln/>
        </p:spPr>
      </p:sp>
      <p:sp>
        <p:nvSpPr>
          <p:cNvPr id="7" name="Shape 4"/>
          <p:cNvSpPr/>
          <p:nvPr/>
        </p:nvSpPr>
        <p:spPr>
          <a:xfrm>
            <a:off x="621792" y="1655064"/>
            <a:ext cx="109728" cy="109728"/>
          </a:xfrm>
          <a:prstGeom prst="ellipse">
            <a:avLst/>
          </a:prstGeom>
          <a:solidFill>
            <a:srgbClr val="5B4FE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60120" y="149961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Combines three data sources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181051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75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Civil/weather sensor readings, live weather forecasts, and historical incident records — for all 40 monitored assets.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2724912"/>
            <a:ext cx="256032" cy="256032"/>
          </a:xfrm>
          <a:prstGeom prst="ellipse">
            <a:avLst/>
          </a:prstGeom>
          <a:solidFill>
            <a:srgbClr val="ECE9FF"/>
          </a:solidFill>
          <a:ln/>
        </p:spPr>
      </p:sp>
      <p:sp>
        <p:nvSpPr>
          <p:cNvPr id="11" name="Shape 8"/>
          <p:cNvSpPr/>
          <p:nvPr/>
        </p:nvSpPr>
        <p:spPr>
          <a:xfrm>
            <a:off x="621792" y="2798064"/>
            <a:ext cx="109728" cy="109728"/>
          </a:xfrm>
          <a:prstGeom prst="ellipse">
            <a:avLst/>
          </a:prstGeom>
          <a:solidFill>
            <a:srgbClr val="5B4F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60120" y="264261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Scores every asset 0–100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295351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75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score built from tilt, vegetation, rain, wind, erosion, corrosion, drainage, and age — the same factors a civil/grid engineer would check on site.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3867912"/>
            <a:ext cx="256032" cy="256032"/>
          </a:xfrm>
          <a:prstGeom prst="ellipse">
            <a:avLst/>
          </a:prstGeom>
          <a:solidFill>
            <a:srgbClr val="ECE9FF"/>
          </a:solidFill>
          <a:ln/>
        </p:spPr>
      </p:sp>
      <p:sp>
        <p:nvSpPr>
          <p:cNvPr id="15" name="Shape 12"/>
          <p:cNvSpPr/>
          <p:nvPr/>
        </p:nvSpPr>
        <p:spPr>
          <a:xfrm>
            <a:off x="621792" y="3941064"/>
            <a:ext cx="109728" cy="109728"/>
          </a:xfrm>
          <a:prstGeom prst="ellipse">
            <a:avLst/>
          </a:prstGeom>
          <a:solidFill>
            <a:srgbClr val="5B4F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60120" y="378561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Ranks by real-world impact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960120" y="409651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75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score = risk × customer consequence ÷ intervention cost — so a cheap fix on a critical-load feeder can outrank a bigger, less urgent repair.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5010912"/>
            <a:ext cx="256032" cy="256032"/>
          </a:xfrm>
          <a:prstGeom prst="ellipse">
            <a:avLst/>
          </a:prstGeom>
          <a:solidFill>
            <a:srgbClr val="ECE9FF"/>
          </a:solidFill>
          <a:ln/>
        </p:spPr>
      </p:sp>
      <p:sp>
        <p:nvSpPr>
          <p:cNvPr id="19" name="Shape 16"/>
          <p:cNvSpPr/>
          <p:nvPr/>
        </p:nvSpPr>
        <p:spPr>
          <a:xfrm>
            <a:off x="621792" y="5084064"/>
            <a:ext cx="109728" cy="109728"/>
          </a:xfrm>
          <a:prstGeom prst="ellipse">
            <a:avLst/>
          </a:prstGeom>
          <a:solidFill>
            <a:srgbClr val="5B4FE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60120" y="492861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Recommends the next step</a:t>
            </a:r>
            <a:endParaRPr lang="en-US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523951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75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asset gets an action tier (immediate / scheduled), an estimated cost, and a plain-language explanation — always advisory, with human sign-off required.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089904" y="1472184"/>
            <a:ext cx="5650992" cy="3282696"/>
          </a:xfrm>
          <a:prstGeom prst="roundRect">
            <a:avLst>
              <a:gd name="adj" fmla="val 3343"/>
            </a:avLst>
          </a:prstGeom>
          <a:solidFill>
            <a:srgbClr val="FFFFFF"/>
          </a:solidFill>
          <a:ln w="12700">
            <a:solidFill>
              <a:srgbClr val="DEDAFF"/>
            </a:solidFill>
            <a:prstDash val="solid"/>
          </a:ln>
          <a:effectLst>
            <a:outerShdw blurRad="127000" dist="50800" dir="5400000" algn="bl" rotWithShape="0">
              <a:srgbClr val="1B1640">
                <a:alpha val="25000"/>
              </a:srgbClr>
            </a:outerShdw>
          </a:effectLst>
        </p:spPr>
      </p:sp>
      <p:pic>
        <p:nvPicPr>
          <p:cNvPr id="23" name="Image 1" descr="imgs/dashboard_compac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72200" y="1554480"/>
            <a:ext cx="5486400" cy="311810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172200" y="48280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75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GridShield dashboard — top-10 priority queue with band, cause, load, and tier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39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GridShield · IBM BOB AI Hackathon 2026</a:t>
            </a:r>
            <a:endParaRPr lang="en-US" sz="950" dirty="0"/>
          </a:p>
        </p:txBody>
      </p:sp>
      <p:sp>
        <p:nvSpPr>
          <p:cNvPr id="26" name="Text 22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39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B4FE8"/>
          </a:solidFill>
          <a:ln/>
        </p:spPr>
      </p:sp>
      <p:pic>
        <p:nvPicPr>
          <p:cNvPr id="3" name="Image 0" descr="icons/bran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03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5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98448" y="71323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4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GridShield turns data into a decision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9050">
            <a:solidFill>
              <a:srgbClr val="ECE9FF"/>
            </a:solidFill>
            <a:prstDash val="solid"/>
          </a:ln>
          <a:effectLst>
            <a:outerShdw blurRad="101600" dist="38100" dir="5400000" algn="bl" rotWithShape="0">
              <a:srgbClr val="5B4FE8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522476" y="2423160"/>
            <a:ext cx="566928" cy="566928"/>
          </a:xfrm>
          <a:prstGeom prst="ellipse">
            <a:avLst/>
          </a:prstGeom>
          <a:solidFill>
            <a:srgbClr val="5B4FE8"/>
          </a:solidFill>
          <a:ln/>
        </p:spPr>
      </p:sp>
      <p:pic>
        <p:nvPicPr>
          <p:cNvPr id="8" name="Image 1" descr="icons/cpu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780" y="256946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5800" y="3154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4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Inputs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749808" y="3538728"/>
            <a:ext cx="2112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75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health, weather forecast, incident history + civil factors (tilt, vegetation, drainage, age)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090672" y="3392424"/>
            <a:ext cx="292608" cy="256032"/>
          </a:xfrm>
          <a:prstGeom prst="rightArrow">
            <a:avLst/>
          </a:prstGeom>
          <a:solidFill>
            <a:srgbClr val="C9C3FF"/>
          </a:solidFill>
          <a:ln/>
        </p:spPr>
      </p:sp>
      <p:sp>
        <p:nvSpPr>
          <p:cNvPr id="12" name="Shape 8"/>
          <p:cNvSpPr/>
          <p:nvPr/>
        </p:nvSpPr>
        <p:spPr>
          <a:xfrm>
            <a:off x="3410712" y="214884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9050">
            <a:solidFill>
              <a:srgbClr val="ECE9FF"/>
            </a:solidFill>
            <a:prstDash val="solid"/>
          </a:ln>
          <a:effectLst>
            <a:outerShdw blurRad="101600" dist="38100" dir="5400000" algn="bl" rotWithShape="0">
              <a:srgbClr val="5B4FE8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84548" y="2423160"/>
            <a:ext cx="566928" cy="566928"/>
          </a:xfrm>
          <a:prstGeom prst="ellipse">
            <a:avLst/>
          </a:prstGeom>
          <a:solidFill>
            <a:srgbClr val="5B4FE8"/>
          </a:solidFill>
          <a:ln/>
        </p:spPr>
      </p:sp>
      <p:pic>
        <p:nvPicPr>
          <p:cNvPr id="14" name="Image 2" descr="icons/gri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0852" y="2569464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547872" y="3154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4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Scoring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3611880" y="3538728"/>
            <a:ext cx="2112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75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Per-asset 0–100 risk score from weighted civil/weather contributing factors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952744" y="3392424"/>
            <a:ext cx="292608" cy="256032"/>
          </a:xfrm>
          <a:prstGeom prst="rightArrow">
            <a:avLst/>
          </a:prstGeom>
          <a:solidFill>
            <a:srgbClr val="C9C3FF"/>
          </a:solidFill>
          <a:ln/>
        </p:spPr>
      </p:sp>
      <p:sp>
        <p:nvSpPr>
          <p:cNvPr id="18" name="Shape 13"/>
          <p:cNvSpPr/>
          <p:nvPr/>
        </p:nvSpPr>
        <p:spPr>
          <a:xfrm>
            <a:off x="6272784" y="214884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9050">
            <a:solidFill>
              <a:srgbClr val="ECE9FF"/>
            </a:solidFill>
            <a:prstDash val="solid"/>
          </a:ln>
          <a:effectLst>
            <a:outerShdw blurRad="101600" dist="38100" dir="5400000" algn="bl" rotWithShape="0">
              <a:srgbClr val="5B4FE8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246620" y="2423160"/>
            <a:ext cx="566928" cy="566928"/>
          </a:xfrm>
          <a:prstGeom prst="ellipse">
            <a:avLst/>
          </a:prstGeom>
          <a:solidFill>
            <a:srgbClr val="5B4FE8"/>
          </a:solidFill>
          <a:ln/>
        </p:spPr>
      </p:sp>
      <p:pic>
        <p:nvPicPr>
          <p:cNvPr id="20" name="Image 3" descr="icons/tren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2924" y="2569464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09944" y="3154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4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Ranking</a:t>
            </a:r>
            <a:endParaRPr lang="en-US" sz="1450" dirty="0"/>
          </a:p>
        </p:txBody>
      </p:sp>
      <p:sp>
        <p:nvSpPr>
          <p:cNvPr id="22" name="Text 16"/>
          <p:cNvSpPr txBox="1"/>
          <p:nvPr/>
        </p:nvSpPr>
        <p:spPr>
          <a:xfrm>
            <a:off x="6473952" y="3538728"/>
            <a:ext cx="2112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75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× customer consequence ÷ intervention cost across all 40 assets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8814816" y="3392424"/>
            <a:ext cx="292608" cy="256032"/>
          </a:xfrm>
          <a:prstGeom prst="rightArrow">
            <a:avLst/>
          </a:prstGeom>
          <a:solidFill>
            <a:srgbClr val="C9C3FF"/>
          </a:solidFill>
          <a:ln/>
        </p:spPr>
      </p:sp>
      <p:sp>
        <p:nvSpPr>
          <p:cNvPr id="24" name="Shape 18"/>
          <p:cNvSpPr/>
          <p:nvPr/>
        </p:nvSpPr>
        <p:spPr>
          <a:xfrm>
            <a:off x="9134856" y="214884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9050">
            <a:solidFill>
              <a:srgbClr val="ECE9FF"/>
            </a:solidFill>
            <a:prstDash val="solid"/>
          </a:ln>
          <a:effectLst>
            <a:outerShdw blurRad="101600" dist="38100" dir="5400000" algn="bl" rotWithShape="0">
              <a:srgbClr val="5B4FE8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108692" y="2423160"/>
            <a:ext cx="566928" cy="566928"/>
          </a:xfrm>
          <a:prstGeom prst="ellipse">
            <a:avLst/>
          </a:prstGeom>
          <a:solidFill>
            <a:srgbClr val="FF8A65"/>
          </a:solidFill>
          <a:ln/>
        </p:spPr>
      </p:sp>
      <p:pic>
        <p:nvPicPr>
          <p:cNvPr id="26" name="Image 4" descr="icons/pi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4996" y="2569464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272016" y="3154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4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Advisory Output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9336024" y="3538728"/>
            <a:ext cx="2112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75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queue, live map, asset detail, chat advisor, action tier + safety guardrail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548640" y="525780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FF1EC"/>
          </a:solidFill>
          <a:ln w="12700">
            <a:solidFill>
              <a:srgbClr val="FFD9C7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868680" y="525780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1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only, by design — every output routes through a human-approval step before any field or switching action is taken.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39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GridShield · IBM BOB AI Hackathon 2026</a:t>
            </a:r>
            <a:endParaRPr lang="en-US" sz="950" dirty="0"/>
          </a:p>
        </p:txBody>
      </p:sp>
      <p:sp>
        <p:nvSpPr>
          <p:cNvPr id="32" name="Text 25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39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B4FE8"/>
          </a:solidFill>
          <a:ln/>
        </p:spPr>
      </p:sp>
      <p:pic>
        <p:nvPicPr>
          <p:cNvPr id="3" name="Image 0" descr="icons/p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03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5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KEY FEATURE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98448" y="71323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4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risk on the map, not just in a table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66344" y="1472184"/>
            <a:ext cx="4398264" cy="4736592"/>
          </a:xfrm>
          <a:prstGeom prst="roundRect">
            <a:avLst>
              <a:gd name="adj" fmla="val 2495"/>
            </a:avLst>
          </a:prstGeom>
          <a:solidFill>
            <a:srgbClr val="FFFFFF"/>
          </a:solidFill>
          <a:ln w="12700">
            <a:solidFill>
              <a:srgbClr val="DEDAFF"/>
            </a:solidFill>
            <a:prstDash val="solid"/>
          </a:ln>
          <a:effectLst>
            <a:outerShdw blurRad="127000" dist="50800" dir="5400000" algn="bl" rotWithShape="0">
              <a:srgbClr val="1B1640">
                <a:alpha val="25000"/>
              </a:srgbClr>
            </a:outerShdw>
          </a:effectLst>
        </p:spPr>
      </p:sp>
      <p:pic>
        <p:nvPicPr>
          <p:cNvPr id="7" name="Image 1" descr="imgs/map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" y="1554480"/>
            <a:ext cx="4233672" cy="4572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577840" y="1554480"/>
            <a:ext cx="6035040" cy="1097280"/>
          </a:xfrm>
          <a:prstGeom prst="roundRect">
            <a:avLst>
              <a:gd name="adj" fmla="val 8333"/>
            </a:avLst>
          </a:prstGeom>
          <a:solidFill>
            <a:srgbClr val="F6F5FF"/>
          </a:solidFill>
          <a:ln w="12700">
            <a:solidFill>
              <a:srgbClr val="ECE9F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833872" y="1691640"/>
            <a:ext cx="5522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40 assets, geolocated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833872" y="2039112"/>
            <a:ext cx="5522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75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monitored pole, transformer, and substation plotted across the grid zone — one live view of the whole network.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577840" y="2798064"/>
            <a:ext cx="6035040" cy="1097280"/>
          </a:xfrm>
          <a:prstGeom prst="roundRect">
            <a:avLst>
              <a:gd name="adj" fmla="val 8333"/>
            </a:avLst>
          </a:prstGeom>
          <a:solidFill>
            <a:srgbClr val="F6F5FF"/>
          </a:solidFill>
          <a:ln w="12700">
            <a:solidFill>
              <a:srgbClr val="ECE9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833872" y="2935224"/>
            <a:ext cx="5522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Color-coded by risk band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833872" y="3282696"/>
            <a:ext cx="5522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75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Critical, Elevated, Watch, and Normal markers match the same color language used throughout the dashboard, so crews can triage at a glance.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577840" y="4041648"/>
            <a:ext cx="6035040" cy="1097280"/>
          </a:xfrm>
          <a:prstGeom prst="roundRect">
            <a:avLst>
              <a:gd name="adj" fmla="val 8333"/>
            </a:avLst>
          </a:prstGeom>
          <a:solidFill>
            <a:srgbClr val="F6F5FF"/>
          </a:solidFill>
          <a:ln w="12700">
            <a:solidFill>
              <a:srgbClr val="ECE9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833872" y="4178808"/>
            <a:ext cx="5522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through to full detail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5833872" y="4526280"/>
            <a:ext cx="5522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75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any marker opens that asset's risk breakdown, dominant cause, and recommended action tier — no separate lookup needed.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577840" y="5285232"/>
            <a:ext cx="6035040" cy="1097280"/>
          </a:xfrm>
          <a:prstGeom prst="roundRect">
            <a:avLst>
              <a:gd name="adj" fmla="val 8333"/>
            </a:avLst>
          </a:prstGeom>
          <a:solidFill>
            <a:srgbClr val="F6F5FF"/>
          </a:solidFill>
          <a:ln w="12700">
            <a:solidFill>
              <a:srgbClr val="ECE9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833872" y="5422392"/>
            <a:ext cx="5522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field + control-room use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5833872" y="5769864"/>
            <a:ext cx="5522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75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so a dispatcher can see where risk is concentrated geographically, not just which asset ID ranks highest.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39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GridShield · IBM BOB AI Hackathon 2026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39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B4FE8"/>
          </a:solidFill>
          <a:ln/>
        </p:spPr>
      </p:sp>
      <p:pic>
        <p:nvPicPr>
          <p:cNvPr id="3" name="Image 0" descr="icons/cpu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03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5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TECHNOLOGIES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98448" y="71323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4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end-to-end with IBM BOB AI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36192"/>
            <a:ext cx="438912" cy="438912"/>
          </a:xfrm>
          <a:prstGeom prst="ellipse">
            <a:avLst/>
          </a:prstGeom>
          <a:solidFill>
            <a:srgbClr val="ECE9FF"/>
          </a:solidFill>
          <a:ln/>
        </p:spPr>
      </p:sp>
      <p:pic>
        <p:nvPicPr>
          <p:cNvPr id="7" name="Image 1" descr="icons/cpu_indi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" y="1641348"/>
            <a:ext cx="228600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1490472"/>
            <a:ext cx="9921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Prompt-driven build</a:t>
            </a:r>
            <a:endParaRPr lang="en-US" sz="1450" dirty="0"/>
          </a:p>
        </p:txBody>
      </p:sp>
      <p:sp>
        <p:nvSpPr>
          <p:cNvPr id="9" name="Text 5"/>
          <p:cNvSpPr txBox="1"/>
          <p:nvPr/>
        </p:nvSpPr>
        <p:spPr>
          <a:xfrm>
            <a:off x="1234440" y="1792224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75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dashboard, risk-scoring logic, asset-detail views, and chat advisor were generated and iteratively refined directly through BOB AI, from a single connected GitHub repository.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2450592"/>
            <a:ext cx="438912" cy="438912"/>
          </a:xfrm>
          <a:prstGeom prst="ellipse">
            <a:avLst/>
          </a:prstGeom>
          <a:solidFill>
            <a:srgbClr val="ECE9FF"/>
          </a:solidFill>
          <a:ln/>
        </p:spPr>
      </p:sp>
      <p:pic>
        <p:nvPicPr>
          <p:cNvPr id="11" name="Image 2" descr="icons/cpu_indi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" y="2555748"/>
            <a:ext cx="228600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2404872"/>
            <a:ext cx="9921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advisor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1234440" y="2706624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75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AI powers the in-app Advisor Chat, which answers natural-language questions like “Why is A-01 ranked above A-15?” using the live asset data.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48640" y="3364992"/>
            <a:ext cx="438912" cy="438912"/>
          </a:xfrm>
          <a:prstGeom prst="ellipse">
            <a:avLst/>
          </a:prstGeom>
          <a:solidFill>
            <a:srgbClr val="ECE9FF"/>
          </a:solidFill>
          <a:ln/>
        </p:spPr>
      </p:sp>
      <p:pic>
        <p:nvPicPr>
          <p:cNvPr id="15" name="Image 3" descr="icons/cpu_indi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" y="3470148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34440" y="3319272"/>
            <a:ext cx="9921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quality tooling</a:t>
            </a:r>
            <a:endParaRPr lang="en-US" sz="1450" dirty="0"/>
          </a:p>
        </p:txBody>
      </p:sp>
      <p:sp>
        <p:nvSpPr>
          <p:cNvPr id="17" name="Text 11"/>
          <p:cNvSpPr txBox="1"/>
          <p:nvPr/>
        </p:nvSpPr>
        <p:spPr>
          <a:xfrm>
            <a:off x="1234440" y="3621024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75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BOB's Model &amp; Evaluation and Quality Panel views were used to check leakage/generalisation controls (time-based split, no post-outage features, temporal ordering) and confirm a passing stress test before demo.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548640" y="4279392"/>
            <a:ext cx="438912" cy="438912"/>
          </a:xfrm>
          <a:prstGeom prst="ellipse">
            <a:avLst/>
          </a:prstGeom>
          <a:solidFill>
            <a:srgbClr val="ECE9FF"/>
          </a:solidFill>
          <a:ln/>
        </p:spPr>
      </p:sp>
      <p:pic>
        <p:nvPicPr>
          <p:cNvPr id="19" name="Image 4" descr="icons/cpu_indi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" y="4384548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234440" y="4233672"/>
            <a:ext cx="9921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GitHub-connected deployment</a:t>
            </a:r>
            <a:endParaRPr lang="en-US" sz="1450" dirty="0"/>
          </a:p>
        </p:txBody>
      </p:sp>
      <p:sp>
        <p:nvSpPr>
          <p:cNvPr id="21" name="Text 14"/>
          <p:cNvSpPr txBox="1"/>
          <p:nvPr/>
        </p:nvSpPr>
        <p:spPr>
          <a:xfrm>
            <a:off x="1234440" y="4535424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75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are made against the connected repository and redeployed through BOB AI, keeping one source of truth for the app instead of a separate one-off build.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548640" y="5349240"/>
            <a:ext cx="11094415" cy="1051560"/>
          </a:xfrm>
          <a:prstGeom prst="roundRect">
            <a:avLst>
              <a:gd name="adj" fmla="val 10435"/>
            </a:avLst>
          </a:prstGeom>
          <a:solidFill>
            <a:srgbClr val="F6F5FF"/>
          </a:solidFill>
          <a:ln w="12700">
            <a:solidFill>
              <a:srgbClr val="ECE9FF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822960" y="5477256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675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Model &amp; Evaluation panel — leakage &amp; generalisation controls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822960" y="5870448"/>
            <a:ext cx="219456" cy="219456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822960" y="58704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1097280" y="5852160"/>
            <a:ext cx="14375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4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split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2580589" y="5870448"/>
            <a:ext cx="219456" cy="219456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2580589" y="58704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2854909" y="5852160"/>
            <a:ext cx="14375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4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post-outage features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4338218" y="5870448"/>
            <a:ext cx="219456" cy="219456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4338218" y="58704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4612538" y="5852160"/>
            <a:ext cx="14375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4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ordering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6095848" y="5870448"/>
            <a:ext cx="219456" cy="219456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6095848" y="58704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6370168" y="5852160"/>
            <a:ext cx="14375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4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independence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7853477" y="5870448"/>
            <a:ext cx="219456" cy="219456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7853477" y="58704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8127797" y="5852160"/>
            <a:ext cx="14375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4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 passed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9611106" y="5870448"/>
            <a:ext cx="219456" cy="219456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40" name="Text 33"/>
          <p:cNvSpPr txBox="1"/>
          <p:nvPr/>
        </p:nvSpPr>
        <p:spPr>
          <a:xfrm>
            <a:off x="9611106" y="58704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9885426" y="5852160"/>
            <a:ext cx="14375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4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predictions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39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GridShield · IBM BOB AI Hackathon 2026</a:t>
            </a:r>
            <a:endParaRPr lang="en-US" sz="950" dirty="0"/>
          </a:p>
        </p:txBody>
      </p:sp>
      <p:sp>
        <p:nvSpPr>
          <p:cNvPr id="43" name="Text 3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39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B4FE8"/>
          </a:solidFill>
          <a:ln/>
        </p:spPr>
      </p:sp>
      <p:pic>
        <p:nvPicPr>
          <p:cNvPr id="3" name="Image 0" descr="icons/tren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03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5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98448" y="71323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24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GridShield surfaces right now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F6F5FF"/>
          </a:solidFill>
          <a:ln w="12700">
            <a:solidFill>
              <a:srgbClr val="ECE9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90195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B4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788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4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83280" y="164592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F6F5FF"/>
          </a:solidFill>
          <a:ln w="12700">
            <a:solidFill>
              <a:srgbClr val="ECE9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83280" y="190195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44.7k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520440" y="2788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4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17920" y="164592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F6F5FF"/>
          </a:solidFill>
          <a:ln w="12700">
            <a:solidFill>
              <a:srgbClr val="ECE9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0" y="190195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0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2788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assets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4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052560" y="164592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F6F5FF"/>
          </a:solidFill>
          <a:ln w="12700">
            <a:solidFill>
              <a:srgbClr val="ECE9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052560" y="190195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8A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000" dirty="0"/>
          </a:p>
        </p:txBody>
      </p:sp>
      <p:sp>
        <p:nvSpPr>
          <p:cNvPr id="17" name="Text 14"/>
          <p:cNvSpPr txBox="1"/>
          <p:nvPr/>
        </p:nvSpPr>
        <p:spPr>
          <a:xfrm>
            <a:off x="9189720" y="2788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4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3977640"/>
            <a:ext cx="11094415" cy="1920240"/>
          </a:xfrm>
          <a:prstGeom prst="roundRect">
            <a:avLst>
              <a:gd name="adj" fmla="val 5714"/>
            </a:avLst>
          </a:prstGeom>
          <a:solidFill>
            <a:srgbClr val="1B164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14400" y="42062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reactive to preventive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590288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waiting for a failure to happen, GridShield's priority queue surfaces the assets most likely to cause customer-affecting outages — ranked by real-world consequence, not just raw risk — before a crew is dispatched. That means maintenance spend gets pointed at the highest-impact problem first, every time the model reruns for a new weather scenario.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39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GridShield · IBM BOB AI Hackathon 2026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39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2A227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645920"/>
            <a:ext cx="3291840" cy="3291840"/>
          </a:xfrm>
          <a:prstGeom prst="ellipse">
            <a:avLst/>
          </a:prstGeom>
          <a:solidFill>
            <a:srgbClr val="251E5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40080"/>
            <a:ext cx="566928" cy="566928"/>
          </a:xfrm>
          <a:prstGeom prst="ellipse">
            <a:avLst/>
          </a:prstGeom>
          <a:solidFill>
            <a:srgbClr val="5B4FE8"/>
          </a:solidFill>
          <a:ln/>
        </p:spPr>
      </p:sp>
      <p:pic>
        <p:nvPicPr>
          <p:cNvPr id="5" name="Image 0" descr="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786384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621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8412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GridShield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822960" y="1965960"/>
            <a:ext cx="2514600" cy="2468880"/>
          </a:xfrm>
          <a:prstGeom prst="roundRect">
            <a:avLst>
              <a:gd name="adj" fmla="val 5185"/>
            </a:avLst>
          </a:prstGeom>
          <a:solidFill>
            <a:srgbClr val="241D5C"/>
          </a:solidFill>
          <a:ln w="12700">
            <a:solidFill>
              <a:srgbClr val="352C7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77340" y="2331720"/>
            <a:ext cx="1005840" cy="100584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577340" y="2331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474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Mitesh Rana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3840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657600" y="1965960"/>
            <a:ext cx="2514600" cy="2468880"/>
          </a:xfrm>
          <a:prstGeom prst="roundRect">
            <a:avLst>
              <a:gd name="adj" fmla="val 5185"/>
            </a:avLst>
          </a:prstGeom>
          <a:solidFill>
            <a:srgbClr val="241D5C"/>
          </a:solidFill>
          <a:ln w="12700">
            <a:solidFill>
              <a:srgbClr val="352C7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11980" y="2331720"/>
            <a:ext cx="1005840" cy="1005840"/>
          </a:xfrm>
          <a:prstGeom prst="ellipse">
            <a:avLst/>
          </a:prstGeom>
          <a:solidFill>
            <a:srgbClr val="5B4FE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411980" y="2331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YP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3749040" y="3474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Yogi Patel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749040" y="3840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492240" y="1965960"/>
            <a:ext cx="2514600" cy="2468880"/>
          </a:xfrm>
          <a:prstGeom prst="roundRect">
            <a:avLst>
              <a:gd name="adj" fmla="val 5185"/>
            </a:avLst>
          </a:prstGeom>
          <a:solidFill>
            <a:srgbClr val="241D5C"/>
          </a:solidFill>
          <a:ln w="12700">
            <a:solidFill>
              <a:srgbClr val="352C7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246620" y="2331720"/>
            <a:ext cx="1005840" cy="1005840"/>
          </a:xfrm>
          <a:prstGeom prst="ellipse">
            <a:avLst/>
          </a:prstGeom>
          <a:solidFill>
            <a:srgbClr val="5B4FE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246620" y="2331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6583680" y="3474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Krisha Patel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583680" y="3840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9326880" y="1965960"/>
            <a:ext cx="2514600" cy="2468880"/>
          </a:xfrm>
          <a:prstGeom prst="roundRect">
            <a:avLst>
              <a:gd name="adj" fmla="val 5185"/>
            </a:avLst>
          </a:prstGeom>
          <a:solidFill>
            <a:srgbClr val="241D5C"/>
          </a:solidFill>
          <a:ln w="12700">
            <a:solidFill>
              <a:srgbClr val="352C7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081260" y="2331720"/>
            <a:ext cx="1005840" cy="1005840"/>
          </a:xfrm>
          <a:prstGeom prst="ellipse">
            <a:avLst/>
          </a:prstGeom>
          <a:solidFill>
            <a:srgbClr val="5B4FE8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0081260" y="2331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</a:t>
            </a:r>
            <a:endParaRPr lang="en-US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9418320" y="3474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Jerry Sureja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9418320" y="3840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GridShield · IBM BOB AI Hackathon 2026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431BB93-E6DF-8B8F-0A99-F9E145F8DF8E}"/>
              </a:ext>
            </a:extLst>
          </p:cNvPr>
          <p:cNvSpPr/>
          <p:nvPr/>
        </p:nvSpPr>
        <p:spPr>
          <a:xfrm>
            <a:off x="4297680" y="5305806"/>
            <a:ext cx="3369945" cy="8503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Text 25"/>
          <p:cNvSpPr txBox="1"/>
          <p:nvPr/>
        </p:nvSpPr>
        <p:spPr>
          <a:xfrm>
            <a:off x="4002405" y="5167122"/>
            <a:ext cx="8076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Thank you  ….!</a:t>
            </a:r>
            <a:endParaRPr lang="en-US" sz="2400" b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908</Words>
  <Application>Microsoft Office PowerPoint</Application>
  <PresentationFormat>Widescreen</PresentationFormat>
  <Paragraphs>125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Mitesh Rana</cp:lastModifiedBy>
  <cp:revision>2</cp:revision>
  <dcterms:created xsi:type="dcterms:W3CDTF">2026-09-15T09:41:04Z</dcterms:created>
  <dcterms:modified xsi:type="dcterms:W3CDTF">2026-09-15T09:51:58Z</dcterms:modified>
</cp:coreProperties>
</file>